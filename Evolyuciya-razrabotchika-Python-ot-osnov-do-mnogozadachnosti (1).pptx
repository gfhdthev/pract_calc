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4630400" cy="8229600"/>
  <p:notesSz cx="8229600" cy="14630400"/>
  <p:embeddedFontLst>
    <p:embeddedFont>
      <p:font typeface="Gelasio Semi Bold" panose="020B0604020202020204" charset="0"/>
      <p:regular r:id="rId14"/>
    </p:embeddedFont>
    <p:embeddedFont>
      <p:font typeface="Calibri" panose="020F0502020204030204" pitchFamily="34" charset="0"/>
      <p:regular r:id="rId15"/>
      <p:bold r:id="rId16"/>
      <p:italic r:id="rId17"/>
      <p:boldItalic r:id="rId18"/>
    </p:embeddedFont>
    <p:embeddedFont>
      <p:font typeface="Gelasio" panose="020B0604020202020204" charset="0"/>
      <p:regular r:id="rId19"/>
    </p:embeddedFont>
  </p:embeddedFontLst>
  <p:defaultTextStyle>
    <a:defPPr>
      <a:defRPr lang="aa-E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6E5D1"/>
    <a:srgbClr val="F7EFE4"/>
    <a:srgbClr val="F3E9DD"/>
    <a:srgbClr val="F4ECE1"/>
    <a:srgbClr val="F6EDE4"/>
    <a:srgbClr val="F3E6D6"/>
    <a:srgbClr val="F2E5D5"/>
    <a:srgbClr val="F8F4E8"/>
    <a:srgbClr val="F0E4D4"/>
    <a:srgbClr val="F9F6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7" d="100"/>
          <a:sy n="97" d="100"/>
        </p:scale>
        <p:origin x="33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073216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39940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792843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Эволюция разработчика Python: от основ до многозадачности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259342"/>
            <a:ext cx="7556421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Добро пожаловать на презентацию сквозного проекта, выполненного в рамках шести последовательных лабораторных работ. Это не просто набор отдельных заданий, а целостная история развития навыков — от фундаментальных принципов программирования до создания сложных, эффективных и надежных приложений.</a:t>
            </a:r>
            <a:endParaRPr lang="en-US" sz="17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15050" y="494586"/>
            <a:ext cx="7886700" cy="1122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0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Лабораторная работа №1: Закладываем фундамент</a:t>
            </a:r>
            <a:endParaRPr lang="en-US" sz="3500" dirty="0"/>
          </a:p>
        </p:txBody>
      </p:sp>
      <p:sp>
        <p:nvSpPr>
          <p:cNvPr id="4" name="Text 1"/>
          <p:cNvSpPr/>
          <p:nvPr/>
        </p:nvSpPr>
        <p:spPr>
          <a:xfrm>
            <a:off x="6115050" y="1886783"/>
            <a:ext cx="4972288" cy="4491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Класс и его ответственность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6115050" y="2605326"/>
            <a:ext cx="7886700" cy="862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Наша отправная точка — создание не просто кода, а корректно спроектированной сущности. Мы разработали класс Octagon, который стал полноценной моделью правильного восьмиугольника.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115050" y="3669625"/>
            <a:ext cx="3853577" cy="1942862"/>
          </a:xfrm>
          <a:prstGeom prst="roundRect">
            <a:avLst>
              <a:gd name="adj" fmla="val 1387"/>
            </a:avLst>
          </a:prstGeom>
          <a:solidFill>
            <a:srgbClr val="F9F6F0"/>
          </a:solidFill>
          <a:ln w="22860">
            <a:solidFill>
              <a:srgbClr val="D4CEC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115050" y="3669625"/>
            <a:ext cx="91440" cy="1942862"/>
          </a:xfrm>
          <a:prstGeom prst="roundRect">
            <a:avLst>
              <a:gd name="adj" fmla="val 29468"/>
            </a:avLst>
          </a:prstGeom>
          <a:solidFill>
            <a:srgbClr val="D3C5B6"/>
          </a:solidFill>
          <a:ln/>
        </p:spPr>
      </p:sp>
      <p:sp>
        <p:nvSpPr>
          <p:cNvPr id="8" name="Text 5"/>
          <p:cNvSpPr/>
          <p:nvPr/>
        </p:nvSpPr>
        <p:spPr>
          <a:xfrm>
            <a:off x="6408896" y="3872032"/>
            <a:ext cx="2245400" cy="28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Конструктор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6408896" y="4260413"/>
            <a:ext cx="3357324" cy="862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Принимал длину стороны, жестко задавал математические константы (внутренний угол, коэффициент k).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10148173" y="3669625"/>
            <a:ext cx="3853577" cy="1942862"/>
          </a:xfrm>
          <a:prstGeom prst="roundRect">
            <a:avLst>
              <a:gd name="adj" fmla="val 1387"/>
            </a:avLst>
          </a:prstGeom>
          <a:solidFill>
            <a:srgbClr val="F9F6F0"/>
          </a:solidFill>
          <a:ln w="22860">
            <a:solidFill>
              <a:srgbClr val="D4CEC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148173" y="3669625"/>
            <a:ext cx="91440" cy="1942862"/>
          </a:xfrm>
          <a:prstGeom prst="roundRect">
            <a:avLst>
              <a:gd name="adj" fmla="val 29468"/>
            </a:avLst>
          </a:prstGeom>
          <a:solidFill>
            <a:srgbClr val="D3C5B6"/>
          </a:solidFill>
          <a:ln/>
        </p:spPr>
      </p:sp>
      <p:sp>
        <p:nvSpPr>
          <p:cNvPr id="12" name="Text 9"/>
          <p:cNvSpPr/>
          <p:nvPr/>
        </p:nvSpPr>
        <p:spPr>
          <a:xfrm>
            <a:off x="10442019" y="3872032"/>
            <a:ext cx="2277189" cy="28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Методы вычисления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10442019" y="4260413"/>
            <a:ext cx="3357324" cy="11496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Реализованы методы для вычисления площади, периметра, радиусов и площадей вписанной/описанной окружностей.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115050" y="5792033"/>
            <a:ext cx="3853577" cy="1942862"/>
          </a:xfrm>
          <a:prstGeom prst="roundRect">
            <a:avLst>
              <a:gd name="adj" fmla="val 1387"/>
            </a:avLst>
          </a:prstGeom>
          <a:solidFill>
            <a:srgbClr val="F9F6F0"/>
          </a:solidFill>
          <a:ln w="22860">
            <a:solidFill>
              <a:srgbClr val="D4CEC3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115050" y="5792033"/>
            <a:ext cx="91440" cy="1942862"/>
          </a:xfrm>
          <a:prstGeom prst="roundRect">
            <a:avLst>
              <a:gd name="adj" fmla="val 29468"/>
            </a:avLst>
          </a:prstGeom>
          <a:solidFill>
            <a:srgbClr val="D3C5B6"/>
          </a:solidFill>
          <a:ln/>
        </p:spPr>
      </p:sp>
      <p:sp>
        <p:nvSpPr>
          <p:cNvPr id="16" name="Text 13"/>
          <p:cNvSpPr/>
          <p:nvPr/>
        </p:nvSpPr>
        <p:spPr>
          <a:xfrm>
            <a:off x="6408896" y="5994440"/>
            <a:ext cx="2245400" cy="28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Визуализация</a:t>
            </a:r>
            <a:endParaRPr lang="en-US" sz="1750" dirty="0"/>
          </a:p>
        </p:txBody>
      </p:sp>
      <p:sp>
        <p:nvSpPr>
          <p:cNvPr id="17" name="Text 14"/>
          <p:cNvSpPr/>
          <p:nvPr/>
        </p:nvSpPr>
        <p:spPr>
          <a:xfrm>
            <a:off x="6408896" y="6382822"/>
            <a:ext cx="3357324" cy="11496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С помощью matplotlib строил октагон и окружности, превращая числа в наглядное графическое представление.</a:t>
            </a:r>
            <a:endParaRPr lang="en-US" sz="1400" dirty="0"/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xmlns="" id="{AD7650E0-BEC5-2135-C6E3-DE167E6161D8}"/>
              </a:ext>
            </a:extLst>
          </p:cNvPr>
          <p:cNvSpPr/>
          <p:nvPr/>
        </p:nvSpPr>
        <p:spPr>
          <a:xfrm>
            <a:off x="12519183" y="7346989"/>
            <a:ext cx="2095500" cy="862251"/>
          </a:xfrm>
          <a:prstGeom prst="rect">
            <a:avLst/>
          </a:prstGeom>
          <a:solidFill>
            <a:srgbClr val="F9F6F0"/>
          </a:solidFill>
          <a:ln>
            <a:solidFill>
              <a:srgbClr val="F9F6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a-ET"/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xmlns="" id="{A46423E7-84EC-6C13-3B33-838841BC1F24}"/>
              </a:ext>
            </a:extLst>
          </p:cNvPr>
          <p:cNvSpPr/>
          <p:nvPr/>
        </p:nvSpPr>
        <p:spPr>
          <a:xfrm>
            <a:off x="3298983" y="6247209"/>
            <a:ext cx="863442" cy="248841"/>
          </a:xfrm>
          <a:prstGeom prst="rect">
            <a:avLst/>
          </a:prstGeom>
          <a:solidFill>
            <a:srgbClr val="F7EFE4"/>
          </a:solidFill>
          <a:ln>
            <a:solidFill>
              <a:srgbClr val="F8F4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a-ET"/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xmlns="" id="{B63FF08A-CACE-CE37-65D0-D98B07FF5ACF}"/>
              </a:ext>
            </a:extLst>
          </p:cNvPr>
          <p:cNvSpPr/>
          <p:nvPr/>
        </p:nvSpPr>
        <p:spPr>
          <a:xfrm>
            <a:off x="1365408" y="6175771"/>
            <a:ext cx="863442" cy="391716"/>
          </a:xfrm>
          <a:prstGeom prst="rect">
            <a:avLst/>
          </a:prstGeom>
          <a:solidFill>
            <a:srgbClr val="F7EFE4"/>
          </a:solidFill>
          <a:ln>
            <a:solidFill>
              <a:srgbClr val="F8F4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a-ET"/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xmlns="" id="{D890E7B6-0053-3FB0-7184-A03648E88522}"/>
              </a:ext>
            </a:extLst>
          </p:cNvPr>
          <p:cNvSpPr/>
          <p:nvPr/>
        </p:nvSpPr>
        <p:spPr>
          <a:xfrm>
            <a:off x="1131331" y="6114931"/>
            <a:ext cx="863442" cy="248841"/>
          </a:xfrm>
          <a:prstGeom prst="rect">
            <a:avLst/>
          </a:prstGeom>
          <a:solidFill>
            <a:srgbClr val="F7EFE4"/>
          </a:solidFill>
          <a:ln>
            <a:solidFill>
              <a:srgbClr val="F8F4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a-ET"/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xmlns="" id="{772C533E-B222-2D72-1AE4-2C079074FDF0}"/>
              </a:ext>
            </a:extLst>
          </p:cNvPr>
          <p:cNvSpPr/>
          <p:nvPr/>
        </p:nvSpPr>
        <p:spPr>
          <a:xfrm>
            <a:off x="0" y="4846736"/>
            <a:ext cx="742950" cy="551855"/>
          </a:xfrm>
          <a:prstGeom prst="rect">
            <a:avLst/>
          </a:prstGeom>
          <a:solidFill>
            <a:srgbClr val="F7EFE4"/>
          </a:solidFill>
          <a:ln>
            <a:solidFill>
              <a:srgbClr val="F8F4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a-ET"/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xmlns="" id="{3378CF96-8168-3644-A968-EDF0EBD678C9}"/>
              </a:ext>
            </a:extLst>
          </p:cNvPr>
          <p:cNvSpPr/>
          <p:nvPr/>
        </p:nvSpPr>
        <p:spPr>
          <a:xfrm>
            <a:off x="0" y="4570808"/>
            <a:ext cx="628650" cy="551855"/>
          </a:xfrm>
          <a:prstGeom prst="rect">
            <a:avLst/>
          </a:prstGeom>
          <a:solidFill>
            <a:srgbClr val="F6EDE4"/>
          </a:solidFill>
          <a:ln>
            <a:solidFill>
              <a:srgbClr val="F8F4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a-ET"/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xmlns="" id="{8EEC05D0-52FD-5488-A976-61432B25BBE8}"/>
              </a:ext>
            </a:extLst>
          </p:cNvPr>
          <p:cNvSpPr/>
          <p:nvPr/>
        </p:nvSpPr>
        <p:spPr>
          <a:xfrm>
            <a:off x="57150" y="2831009"/>
            <a:ext cx="628650" cy="551855"/>
          </a:xfrm>
          <a:prstGeom prst="rect">
            <a:avLst/>
          </a:prstGeom>
          <a:solidFill>
            <a:srgbClr val="F6EDE4"/>
          </a:solidFill>
          <a:ln>
            <a:solidFill>
              <a:srgbClr val="F8F4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a-ET"/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xmlns="" id="{E76C03B7-F6A7-B210-3A94-B29F8C91457C}"/>
              </a:ext>
            </a:extLst>
          </p:cNvPr>
          <p:cNvSpPr/>
          <p:nvPr/>
        </p:nvSpPr>
        <p:spPr>
          <a:xfrm>
            <a:off x="1563052" y="1546324"/>
            <a:ext cx="628650" cy="391716"/>
          </a:xfrm>
          <a:prstGeom prst="rect">
            <a:avLst/>
          </a:prstGeom>
          <a:solidFill>
            <a:srgbClr val="F6EDE4"/>
          </a:solidFill>
          <a:ln>
            <a:solidFill>
              <a:srgbClr val="F8F4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a-ET"/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xmlns="" id="{BD1BBE8F-F8AA-62D1-A673-2B36F9B5CED8}"/>
              </a:ext>
            </a:extLst>
          </p:cNvPr>
          <p:cNvSpPr/>
          <p:nvPr/>
        </p:nvSpPr>
        <p:spPr>
          <a:xfrm>
            <a:off x="1220152" y="1617345"/>
            <a:ext cx="628650" cy="551855"/>
          </a:xfrm>
          <a:prstGeom prst="rect">
            <a:avLst/>
          </a:prstGeom>
          <a:solidFill>
            <a:srgbClr val="F6EDE4"/>
          </a:solidFill>
          <a:ln>
            <a:solidFill>
              <a:srgbClr val="F8F4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a-ET"/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xmlns="" id="{D7A297CF-BEC4-CB35-21BB-803FE29EC043}"/>
              </a:ext>
            </a:extLst>
          </p:cNvPr>
          <p:cNvSpPr/>
          <p:nvPr/>
        </p:nvSpPr>
        <p:spPr>
          <a:xfrm>
            <a:off x="3411854" y="1617345"/>
            <a:ext cx="550546" cy="468630"/>
          </a:xfrm>
          <a:prstGeom prst="rect">
            <a:avLst/>
          </a:prstGeom>
          <a:solidFill>
            <a:srgbClr val="F7EFE4"/>
          </a:solidFill>
          <a:ln>
            <a:solidFill>
              <a:srgbClr val="F8F4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a-ET"/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xmlns="" id="{0E900300-5771-18E1-13ED-A5322BEFFE88}"/>
              </a:ext>
            </a:extLst>
          </p:cNvPr>
          <p:cNvSpPr/>
          <p:nvPr/>
        </p:nvSpPr>
        <p:spPr>
          <a:xfrm>
            <a:off x="4783454" y="2872621"/>
            <a:ext cx="628650" cy="468630"/>
          </a:xfrm>
          <a:prstGeom prst="rect">
            <a:avLst/>
          </a:prstGeom>
          <a:solidFill>
            <a:srgbClr val="F7EFE4"/>
          </a:solidFill>
          <a:ln>
            <a:solidFill>
              <a:srgbClr val="F8F4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a-ET"/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xmlns="" id="{7A55A397-FF69-EFA5-0FA1-29F36971F170}"/>
              </a:ext>
            </a:extLst>
          </p:cNvPr>
          <p:cNvSpPr/>
          <p:nvPr/>
        </p:nvSpPr>
        <p:spPr>
          <a:xfrm>
            <a:off x="4783454" y="4743450"/>
            <a:ext cx="628650" cy="644127"/>
          </a:xfrm>
          <a:prstGeom prst="rect">
            <a:avLst/>
          </a:prstGeom>
          <a:solidFill>
            <a:srgbClr val="F7EFE4"/>
          </a:solidFill>
          <a:ln>
            <a:solidFill>
              <a:srgbClr val="F8F4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a-ET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17193" y="495895"/>
            <a:ext cx="7882414" cy="11265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0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Лабораторная работа №2: Развиваем архитектуру</a:t>
            </a:r>
            <a:endParaRPr lang="en-US" sz="3500" dirty="0"/>
          </a:p>
        </p:txBody>
      </p:sp>
      <p:sp>
        <p:nvSpPr>
          <p:cNvPr id="4" name="Text 1"/>
          <p:cNvSpPr/>
          <p:nvPr/>
        </p:nvSpPr>
        <p:spPr>
          <a:xfrm>
            <a:off x="6117193" y="1892737"/>
            <a:ext cx="5450086" cy="450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Наследование и полиморфизм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6117193" y="2613660"/>
            <a:ext cx="7882414" cy="5767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Следующим шагом стало понимание того, как объекты взаимодействуют друг с другом. Мы перешли от одного класса к построению иерархии.</a:t>
            </a:r>
            <a:endParaRPr lang="en-US" sz="14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7193" y="3393162"/>
            <a:ext cx="540663" cy="11430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837998" y="3573304"/>
            <a:ext cx="2471023" cy="281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Базовый класс Vehicle</a:t>
            </a:r>
            <a:endParaRPr lang="en-US" sz="1750" dirty="0"/>
          </a:p>
        </p:txBody>
      </p:sp>
      <p:sp>
        <p:nvSpPr>
          <p:cNvPr id="8" name="Text 4"/>
          <p:cNvSpPr/>
          <p:nvPr/>
        </p:nvSpPr>
        <p:spPr>
          <a:xfrm>
            <a:off x="6837998" y="3962995"/>
            <a:ext cx="7161609" cy="5767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Инкапсулировал общие атрибуты (бренд, модель, год) и метод info() для их отображения.</a:t>
            </a:r>
            <a:endParaRPr lang="en-US" sz="14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7465" y="4900017"/>
            <a:ext cx="540663" cy="11430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108269" y="5080159"/>
            <a:ext cx="2253139" cy="281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Дочерний класс Car</a:t>
            </a:r>
            <a:endParaRPr lang="en-US" sz="1750" dirty="0"/>
          </a:p>
        </p:txBody>
      </p:sp>
      <p:sp>
        <p:nvSpPr>
          <p:cNvPr id="11" name="Text 6"/>
          <p:cNvSpPr/>
          <p:nvPr/>
        </p:nvSpPr>
        <p:spPr>
          <a:xfrm>
            <a:off x="7108269" y="5469850"/>
            <a:ext cx="6891338" cy="5767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Расширил свойства родителя, добавив тип топлива, объем двигателя, скорость вращения.</a:t>
            </a:r>
            <a:endParaRPr lang="en-US" sz="14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7856" y="6406872"/>
            <a:ext cx="540663" cy="11430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378660" y="6587014"/>
            <a:ext cx="2253139" cy="281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Полиморфизм</a:t>
            </a:r>
            <a:endParaRPr lang="en-US" sz="1750" dirty="0"/>
          </a:p>
        </p:txBody>
      </p:sp>
      <p:sp>
        <p:nvSpPr>
          <p:cNvPr id="14" name="Text 8"/>
          <p:cNvSpPr/>
          <p:nvPr/>
        </p:nvSpPr>
        <p:spPr>
          <a:xfrm>
            <a:off x="7378660" y="6976705"/>
            <a:ext cx="6620947" cy="5767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Переопределили info() для вывода специфичной информации об автомобиле. Добавили engine_power_calc().</a:t>
            </a:r>
            <a:endParaRPr lang="en-US" sz="1400" dirty="0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xmlns="" id="{3DE268EB-81AD-22C3-EB4D-86D400C479B3}"/>
              </a:ext>
            </a:extLst>
          </p:cNvPr>
          <p:cNvSpPr/>
          <p:nvPr/>
        </p:nvSpPr>
        <p:spPr>
          <a:xfrm>
            <a:off x="12519183" y="7327344"/>
            <a:ext cx="2095500" cy="862251"/>
          </a:xfrm>
          <a:prstGeom prst="rect">
            <a:avLst/>
          </a:prstGeom>
          <a:solidFill>
            <a:srgbClr val="F9F6F0"/>
          </a:solidFill>
          <a:ln>
            <a:solidFill>
              <a:srgbClr val="F9F6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a-ET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0569" y="926902"/>
            <a:ext cx="7662863" cy="1322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200"/>
              </a:lnSpc>
              <a:buNone/>
            </a:pPr>
            <a:r>
              <a:rPr lang="en-US" sz="41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Лабораторная работа №3: Инструменты разработчика</a:t>
            </a:r>
            <a:endParaRPr lang="en-US" sz="4150" dirty="0"/>
          </a:p>
        </p:txBody>
      </p:sp>
      <p:sp>
        <p:nvSpPr>
          <p:cNvPr id="4" name="Text 1"/>
          <p:cNvSpPr/>
          <p:nvPr/>
        </p:nvSpPr>
        <p:spPr>
          <a:xfrm>
            <a:off x="740569" y="2566511"/>
            <a:ext cx="6368177" cy="528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0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Логирование и анализ данных</a:t>
            </a:r>
            <a:endParaRPr lang="en-US" sz="3300" dirty="0"/>
          </a:p>
        </p:txBody>
      </p:sp>
      <p:sp>
        <p:nvSpPr>
          <p:cNvPr id="5" name="Text 2"/>
          <p:cNvSpPr/>
          <p:nvPr/>
        </p:nvSpPr>
        <p:spPr>
          <a:xfrm>
            <a:off x="740569" y="3412688"/>
            <a:ext cx="7662863" cy="10154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Освоив основы ООП, мы перешли к инструментам, которые используются в реальной разработке ежедневно: логирование и работа с данными.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740569" y="4877753"/>
            <a:ext cx="2644854" cy="330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Декоратор logger</a:t>
            </a:r>
            <a:endParaRPr lang="en-US" sz="2050" dirty="0"/>
          </a:p>
        </p:txBody>
      </p:sp>
      <p:sp>
        <p:nvSpPr>
          <p:cNvPr id="7" name="Text 4"/>
          <p:cNvSpPr/>
          <p:nvPr/>
        </p:nvSpPr>
        <p:spPr>
          <a:xfrm>
            <a:off x="740569" y="5419844"/>
            <a:ext cx="3573304" cy="16924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Автоматически записывал в CSV-файл метрику вызова функции: ID, имя пользователя, имя функции, дату и время. Критично для отладки и аудита.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4837748" y="4877753"/>
            <a:ext cx="2706410" cy="330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Класс DataVisualizer</a:t>
            </a:r>
            <a:endParaRPr lang="en-US" sz="2050" dirty="0"/>
          </a:p>
        </p:txBody>
      </p:sp>
      <p:sp>
        <p:nvSpPr>
          <p:cNvPr id="9" name="Text 6"/>
          <p:cNvSpPr/>
          <p:nvPr/>
        </p:nvSpPr>
        <p:spPr>
          <a:xfrm>
            <a:off x="4837748" y="5419844"/>
            <a:ext cx="3573304" cy="16924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Загружал датасет с pandas, проводил первичную обработку и строил гистограмму, визуализируя распределение данных.</a:t>
            </a:r>
            <a:endParaRPr lang="en-US" sz="16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16717" y="531614"/>
            <a:ext cx="7883366" cy="11256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0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Лабораторная работа №4: Продвинутая обработка данных</a:t>
            </a:r>
            <a:endParaRPr lang="en-US" sz="3500" dirty="0"/>
          </a:p>
        </p:txBody>
      </p:sp>
      <p:sp>
        <p:nvSpPr>
          <p:cNvPr id="4" name="Text 1"/>
          <p:cNvSpPr/>
          <p:nvPr/>
        </p:nvSpPr>
        <p:spPr>
          <a:xfrm>
            <a:off x="6116717" y="1927265"/>
            <a:ext cx="6856333" cy="450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Сегментация и перегрузка операторов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6116717" y="2647474"/>
            <a:ext cx="7883366" cy="576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Здесь мы углубились в практическую обработку данных, добавив бизнес-логику и более изощренные приемы программирования.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116717" y="3426262"/>
            <a:ext cx="7883366" cy="2045851"/>
          </a:xfrm>
          <a:prstGeom prst="roundRect">
            <a:avLst>
              <a:gd name="adj" fmla="val 1320"/>
            </a:avLst>
          </a:prstGeom>
          <a:solidFill>
            <a:srgbClr val="EEE8DD"/>
          </a:solidFill>
          <a:ln/>
        </p:spPr>
      </p:sp>
      <p:sp>
        <p:nvSpPr>
          <p:cNvPr id="7" name="Shape 4"/>
          <p:cNvSpPr/>
          <p:nvPr/>
        </p:nvSpPr>
        <p:spPr>
          <a:xfrm>
            <a:off x="6296739" y="3606284"/>
            <a:ext cx="540187" cy="540187"/>
          </a:xfrm>
          <a:prstGeom prst="roundRect">
            <a:avLst>
              <a:gd name="adj" fmla="val 16925779"/>
            </a:avLst>
          </a:prstGeom>
          <a:solidFill>
            <a:srgbClr val="D3C5B6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5210" y="3724394"/>
            <a:ext cx="243126" cy="30384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296739" y="4326493"/>
            <a:ext cx="2286119" cy="2813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 err="1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Класс</a:t>
            </a:r>
            <a:r>
              <a:rPr lang="en-US" sz="17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 </a:t>
            </a:r>
            <a:r>
              <a:rPr lang="en-US" sz="1750" dirty="0" err="1" smtClean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DataProcessing</a:t>
            </a:r>
            <a:endParaRPr lang="en-US" sz="1750" dirty="0"/>
          </a:p>
        </p:txBody>
      </p:sp>
      <p:sp>
        <p:nvSpPr>
          <p:cNvPr id="10" name="Text 6"/>
          <p:cNvSpPr/>
          <p:nvPr/>
        </p:nvSpPr>
        <p:spPr>
          <a:xfrm>
            <a:off x="6296739" y="4715828"/>
            <a:ext cx="7523321" cy="576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Анализировал транзакции, разделяя их на "нормальные" (9:00-23:00) и "подозрительные" (23:00-9:00), сохраняя в отдельные CSV.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6116717" y="5652135"/>
            <a:ext cx="7883366" cy="2045851"/>
          </a:xfrm>
          <a:prstGeom prst="roundRect">
            <a:avLst>
              <a:gd name="adj" fmla="val 1320"/>
            </a:avLst>
          </a:prstGeom>
          <a:solidFill>
            <a:srgbClr val="EEE8DD"/>
          </a:solidFill>
          <a:ln/>
        </p:spPr>
      </p:sp>
      <p:sp>
        <p:nvSpPr>
          <p:cNvPr id="12" name="Shape 8"/>
          <p:cNvSpPr/>
          <p:nvPr/>
        </p:nvSpPr>
        <p:spPr>
          <a:xfrm>
            <a:off x="6296739" y="5832158"/>
            <a:ext cx="540187" cy="540187"/>
          </a:xfrm>
          <a:prstGeom prst="roundRect">
            <a:avLst>
              <a:gd name="adj" fmla="val 16925779"/>
            </a:avLst>
          </a:prstGeom>
          <a:solidFill>
            <a:srgbClr val="D3C5B6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5210" y="5950268"/>
            <a:ext cx="243126" cy="30384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296739" y="6552367"/>
            <a:ext cx="2476024" cy="2813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Перегрузка оператора</a:t>
            </a:r>
            <a:endParaRPr lang="en-US" sz="1750" dirty="0"/>
          </a:p>
        </p:txBody>
      </p:sp>
      <p:sp>
        <p:nvSpPr>
          <p:cNvPr id="15" name="Text 10"/>
          <p:cNvSpPr/>
          <p:nvPr/>
        </p:nvSpPr>
        <p:spPr>
          <a:xfrm>
            <a:off x="6296739" y="6941701"/>
            <a:ext cx="7523321" cy="576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Перегрузили унарный оператор "-" для удаления дубликатов из датасета с отчетом в консоль.</a:t>
            </a:r>
            <a:endParaRPr lang="en-US" sz="1400" dirty="0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xmlns="" id="{FA001ADF-9C02-16C2-FB44-367837514297}"/>
              </a:ext>
            </a:extLst>
          </p:cNvPr>
          <p:cNvSpPr/>
          <p:nvPr/>
        </p:nvSpPr>
        <p:spPr>
          <a:xfrm>
            <a:off x="12519183" y="7697986"/>
            <a:ext cx="2095500" cy="491609"/>
          </a:xfrm>
          <a:prstGeom prst="rect">
            <a:avLst/>
          </a:prstGeom>
          <a:solidFill>
            <a:srgbClr val="F9F6F0"/>
          </a:solidFill>
          <a:ln>
            <a:solidFill>
              <a:srgbClr val="F9F6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a-ET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3895" y="640675"/>
            <a:ext cx="12750760" cy="610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380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Лабораторная работа №5: Обеспечение надежности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83895" y="1544598"/>
            <a:ext cx="7090410" cy="488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30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Проактивная обработка исключений</a:t>
            </a:r>
            <a:endParaRPr lang="en-US" sz="3050" dirty="0"/>
          </a:p>
        </p:txBody>
      </p:sp>
      <p:sp>
        <p:nvSpPr>
          <p:cNvPr id="4" name="Text 2"/>
          <p:cNvSpPr/>
          <p:nvPr/>
        </p:nvSpPr>
        <p:spPr>
          <a:xfrm>
            <a:off x="683895" y="2326243"/>
            <a:ext cx="13262610" cy="6250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Любое профессиональное приложение должно быть готово к ошибкам. Эта работа была посвящена не функциональности, а устойчивости кода.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3895" y="3171111"/>
            <a:ext cx="2210395" cy="1125855"/>
          </a:xfrm>
          <a:prstGeom prst="roundRect">
            <a:avLst>
              <a:gd name="adj" fmla="val 2604"/>
            </a:avLst>
          </a:prstGeom>
          <a:solidFill>
            <a:srgbClr val="EEE8DD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1635" y="3562231"/>
            <a:ext cx="274796" cy="34349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089672" y="3366492"/>
            <a:ext cx="3861435" cy="305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Проверка существования файла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3089672" y="3789045"/>
            <a:ext cx="4419243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Проверка файла на диске по указанному пути.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2991922" y="4287441"/>
            <a:ext cx="10856952" cy="11430"/>
          </a:xfrm>
          <a:prstGeom prst="roundRect">
            <a:avLst>
              <a:gd name="adj" fmla="val 256470"/>
            </a:avLst>
          </a:prstGeom>
          <a:solidFill>
            <a:srgbClr val="D4CEC3"/>
          </a:solidFill>
          <a:ln/>
        </p:spPr>
      </p:sp>
      <p:sp>
        <p:nvSpPr>
          <p:cNvPr id="10" name="Shape 7"/>
          <p:cNvSpPr/>
          <p:nvPr/>
        </p:nvSpPr>
        <p:spPr>
          <a:xfrm>
            <a:off x="683895" y="4394597"/>
            <a:ext cx="4420791" cy="1125855"/>
          </a:xfrm>
          <a:prstGeom prst="roundRect">
            <a:avLst>
              <a:gd name="adj" fmla="val 2604"/>
            </a:avLst>
          </a:prstGeom>
          <a:solidFill>
            <a:srgbClr val="EEE8DD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56892" y="4785717"/>
            <a:ext cx="274796" cy="34349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00067" y="4589978"/>
            <a:ext cx="3292912" cy="305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Попытка открыть и считать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5300067" y="5012531"/>
            <a:ext cx="6777038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Обработка ошибок кодировки, повреждения, отсутствия прав доступа.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5202317" y="5510927"/>
            <a:ext cx="8646557" cy="11430"/>
          </a:xfrm>
          <a:prstGeom prst="roundRect">
            <a:avLst>
              <a:gd name="adj" fmla="val 256470"/>
            </a:avLst>
          </a:prstGeom>
          <a:solidFill>
            <a:srgbClr val="D4CEC3"/>
          </a:solidFill>
          <a:ln/>
        </p:spPr>
      </p:sp>
      <p:sp>
        <p:nvSpPr>
          <p:cNvPr id="15" name="Shape 11"/>
          <p:cNvSpPr/>
          <p:nvPr/>
        </p:nvSpPr>
        <p:spPr>
          <a:xfrm>
            <a:off x="683895" y="5618083"/>
            <a:ext cx="6631305" cy="1125855"/>
          </a:xfrm>
          <a:prstGeom prst="roundRect">
            <a:avLst>
              <a:gd name="adj" fmla="val 2604"/>
            </a:avLst>
          </a:prstGeom>
          <a:solidFill>
            <a:srgbClr val="EEE8DD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62149" y="6009203"/>
            <a:ext cx="274796" cy="34349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510582" y="5813465"/>
            <a:ext cx="3534489" cy="305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Валидация структуры данных</a:t>
            </a:r>
            <a:endParaRPr lang="en-US" sz="1900" dirty="0"/>
          </a:p>
        </p:txBody>
      </p:sp>
      <p:sp>
        <p:nvSpPr>
          <p:cNvPr id="18" name="Text 13"/>
          <p:cNvSpPr/>
          <p:nvPr/>
        </p:nvSpPr>
        <p:spPr>
          <a:xfrm>
            <a:off x="7510582" y="6236018"/>
            <a:ext cx="5578912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Проверка наличия всех ожидаемых столбцов в DataFrame.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683895" y="6963728"/>
            <a:ext cx="13262610" cy="6250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Для каждой потенциальной проблемы был написан свой блок except, гарантирующий, что программа не "упадет", а корректно завершит операцию.</a:t>
            </a:r>
            <a:endParaRPr lang="en-US" sz="1500" dirty="0"/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xmlns="" id="{0800F568-173A-996D-F738-A8B9F7F17892}"/>
              </a:ext>
            </a:extLst>
          </p:cNvPr>
          <p:cNvSpPr/>
          <p:nvPr/>
        </p:nvSpPr>
        <p:spPr>
          <a:xfrm>
            <a:off x="12519183" y="7327344"/>
            <a:ext cx="2095500" cy="862251"/>
          </a:xfrm>
          <a:prstGeom prst="rect">
            <a:avLst/>
          </a:prstGeom>
          <a:solidFill>
            <a:srgbClr val="F9F6F0"/>
          </a:solidFill>
          <a:ln>
            <a:solidFill>
              <a:srgbClr val="F9F6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a-ET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38172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6869" y="3227308"/>
            <a:ext cx="12941856" cy="595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50"/>
              </a:lnSpc>
              <a:buNone/>
            </a:pPr>
            <a:r>
              <a:rPr lang="en-US" sz="37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Лабораторная работа №6: Достижение эффективности</a:t>
            </a:r>
            <a:endParaRPr lang="en-US" sz="3750" dirty="0"/>
          </a:p>
        </p:txBody>
      </p:sp>
      <p:sp>
        <p:nvSpPr>
          <p:cNvPr id="4" name="Text 1"/>
          <p:cNvSpPr/>
          <p:nvPr/>
        </p:nvSpPr>
        <p:spPr>
          <a:xfrm>
            <a:off x="666869" y="4108490"/>
            <a:ext cx="8123992" cy="476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750"/>
              </a:lnSpc>
              <a:buNone/>
            </a:pPr>
            <a:r>
              <a:rPr lang="en-US" sz="300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Параллельные и асинхронные вычисления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666869" y="4870609"/>
            <a:ext cx="13296662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Финальный аккорд проекта — радикальное увеличение производительности и эффективности кода за счет параллелизма.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666869" y="5389721"/>
            <a:ext cx="428625" cy="428625"/>
          </a:xfrm>
          <a:prstGeom prst="roundRect">
            <a:avLst>
              <a:gd name="adj" fmla="val 6668"/>
            </a:avLst>
          </a:prstGeom>
          <a:solidFill>
            <a:srgbClr val="EEE8DD"/>
          </a:solidFill>
          <a:ln/>
        </p:spPr>
      </p:sp>
      <p:sp>
        <p:nvSpPr>
          <p:cNvPr id="7" name="Text 4"/>
          <p:cNvSpPr/>
          <p:nvPr/>
        </p:nvSpPr>
        <p:spPr>
          <a:xfrm>
            <a:off x="738307" y="5425440"/>
            <a:ext cx="285750" cy="3571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22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1</a:t>
            </a:r>
            <a:endParaRPr lang="en-US" sz="2250" dirty="0"/>
          </a:p>
        </p:txBody>
      </p:sp>
      <p:sp>
        <p:nvSpPr>
          <p:cNvPr id="8" name="Text 5"/>
          <p:cNvSpPr/>
          <p:nvPr/>
        </p:nvSpPr>
        <p:spPr>
          <a:xfrm>
            <a:off x="1285994" y="5455206"/>
            <a:ext cx="2668786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Многопоточный поиск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1285994" y="5867162"/>
            <a:ext cx="3654266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Поиск слова "error" в 50 файлах с использованием ThreadPoolExecutor, демонстрирующий преимущества многопоточности.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178385" y="5389721"/>
            <a:ext cx="428625" cy="428625"/>
          </a:xfrm>
          <a:prstGeom prst="roundRect">
            <a:avLst>
              <a:gd name="adj" fmla="val 6668"/>
            </a:avLst>
          </a:prstGeom>
          <a:solidFill>
            <a:srgbClr val="EEE8DD"/>
          </a:solidFill>
          <a:ln/>
        </p:spPr>
      </p:sp>
      <p:sp>
        <p:nvSpPr>
          <p:cNvPr id="11" name="Text 8"/>
          <p:cNvSpPr/>
          <p:nvPr/>
        </p:nvSpPr>
        <p:spPr>
          <a:xfrm>
            <a:off x="5249823" y="5425440"/>
            <a:ext cx="285750" cy="3571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22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2</a:t>
            </a:r>
            <a:endParaRPr lang="en-US" sz="2250" dirty="0"/>
          </a:p>
        </p:txBody>
      </p:sp>
      <p:sp>
        <p:nvSpPr>
          <p:cNvPr id="12" name="Text 9"/>
          <p:cNvSpPr/>
          <p:nvPr/>
        </p:nvSpPr>
        <p:spPr>
          <a:xfrm>
            <a:off x="5797510" y="5455206"/>
            <a:ext cx="3134558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Синхронизация процессов</a:t>
            </a:r>
            <a:endParaRPr lang="en-US" sz="1850" dirty="0"/>
          </a:p>
        </p:txBody>
      </p:sp>
      <p:sp>
        <p:nvSpPr>
          <p:cNvPr id="13" name="Text 10"/>
          <p:cNvSpPr/>
          <p:nvPr/>
        </p:nvSpPr>
        <p:spPr>
          <a:xfrm>
            <a:off x="5797510" y="5867162"/>
            <a:ext cx="3654385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Моделирование записи в общий файл несколькими процессами с применением блокировки (Lock) для избежания гонки данных.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9690021" y="5389721"/>
            <a:ext cx="428625" cy="428625"/>
          </a:xfrm>
          <a:prstGeom prst="roundRect">
            <a:avLst>
              <a:gd name="adj" fmla="val 6668"/>
            </a:avLst>
          </a:prstGeom>
          <a:solidFill>
            <a:srgbClr val="EEE8DD"/>
          </a:solidFill>
          <a:ln/>
        </p:spPr>
      </p:sp>
      <p:sp>
        <p:nvSpPr>
          <p:cNvPr id="15" name="Text 12"/>
          <p:cNvSpPr/>
          <p:nvPr/>
        </p:nvSpPr>
        <p:spPr>
          <a:xfrm>
            <a:off x="9761458" y="5425440"/>
            <a:ext cx="285750" cy="3571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22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3</a:t>
            </a:r>
            <a:endParaRPr lang="en-US" sz="2250" dirty="0"/>
          </a:p>
        </p:txBody>
      </p:sp>
      <p:sp>
        <p:nvSpPr>
          <p:cNvPr id="16" name="Text 13"/>
          <p:cNvSpPr/>
          <p:nvPr/>
        </p:nvSpPr>
        <p:spPr>
          <a:xfrm>
            <a:off x="10309146" y="5455206"/>
            <a:ext cx="3654266" cy="595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Асинхронная модель Producer-Consumer</a:t>
            </a:r>
            <a:endParaRPr lang="en-US" sz="1850" dirty="0"/>
          </a:p>
        </p:txBody>
      </p:sp>
      <p:sp>
        <p:nvSpPr>
          <p:cNvPr id="17" name="Text 14"/>
          <p:cNvSpPr/>
          <p:nvPr/>
        </p:nvSpPr>
        <p:spPr>
          <a:xfrm>
            <a:off x="10309146" y="6164818"/>
            <a:ext cx="3654266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Реализация с asyncio: корутины-производители генерируют данные, корутины-потребители обрабатывают их из ограниченной очереди.</a:t>
            </a:r>
            <a:endParaRPr lang="en-US" sz="1500" dirty="0"/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xmlns="" id="{37692642-E8E6-0431-1EBA-F620E7F3BC78}"/>
              </a:ext>
            </a:extLst>
          </p:cNvPr>
          <p:cNvSpPr/>
          <p:nvPr/>
        </p:nvSpPr>
        <p:spPr>
          <a:xfrm>
            <a:off x="12519183" y="7327344"/>
            <a:ext cx="2095500" cy="862251"/>
          </a:xfrm>
          <a:prstGeom prst="rect">
            <a:avLst/>
          </a:prstGeom>
          <a:solidFill>
            <a:srgbClr val="F9F6F0"/>
          </a:solidFill>
          <a:ln>
            <a:solidFill>
              <a:srgbClr val="F9F6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a-ET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619845"/>
            <a:ext cx="7556421" cy="28351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Командный проект: Коллаборативная разработка и рефакторинг калькуляторов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795123"/>
            <a:ext cx="7556421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Сегодня мы расскажем о нашем командном проекте, целью которого было не просто написать код, а погрузиться в реальный процесс совместной разработки. Мы отрабатывали ключевые практики, используемые в IT-индустрии: от написания кода до его проверки и интеграции с помощью Git и GitHub.</a:t>
            </a:r>
            <a:endParaRPr lang="en-US" sz="1750" dirty="0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xmlns="" id="{5CE9B21E-4791-5476-853D-20D8E6E27BCE}"/>
              </a:ext>
            </a:extLst>
          </p:cNvPr>
          <p:cNvSpPr/>
          <p:nvPr/>
        </p:nvSpPr>
        <p:spPr>
          <a:xfrm>
            <a:off x="12519183" y="7327344"/>
            <a:ext cx="2095500" cy="862251"/>
          </a:xfrm>
          <a:prstGeom prst="rect">
            <a:avLst/>
          </a:prstGeom>
          <a:solidFill>
            <a:srgbClr val="F9F6F0"/>
          </a:solidFill>
          <a:ln>
            <a:solidFill>
              <a:srgbClr val="F9F6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a-ET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xmlns="" id="{9EF559E5-DFAF-E696-C4CD-1ED19D13698C}"/>
              </a:ext>
            </a:extLst>
          </p:cNvPr>
          <p:cNvSpPr/>
          <p:nvPr/>
        </p:nvSpPr>
        <p:spPr>
          <a:xfrm>
            <a:off x="278129" y="634245"/>
            <a:ext cx="445771" cy="1108829"/>
          </a:xfrm>
          <a:prstGeom prst="rect">
            <a:avLst/>
          </a:prstGeom>
          <a:solidFill>
            <a:srgbClr val="F6E5D1"/>
          </a:solidFill>
          <a:ln>
            <a:solidFill>
              <a:srgbClr val="F6E5D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a-ET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xmlns="" id="{B2BCD2B6-BC1B-A547-B131-9824F4F6E8A5}"/>
              </a:ext>
            </a:extLst>
          </p:cNvPr>
          <p:cNvSpPr/>
          <p:nvPr/>
        </p:nvSpPr>
        <p:spPr>
          <a:xfrm>
            <a:off x="452138" y="464758"/>
            <a:ext cx="671812" cy="1278315"/>
          </a:xfrm>
          <a:prstGeom prst="rect">
            <a:avLst/>
          </a:prstGeom>
          <a:solidFill>
            <a:srgbClr val="F6E5D1"/>
          </a:solidFill>
          <a:ln>
            <a:solidFill>
              <a:srgbClr val="F6E5D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a-ET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xmlns="" id="{D97A40D2-85E4-27E4-30D7-7051BBBF64ED}"/>
              </a:ext>
            </a:extLst>
          </p:cNvPr>
          <p:cNvSpPr/>
          <p:nvPr/>
        </p:nvSpPr>
        <p:spPr>
          <a:xfrm>
            <a:off x="501014" y="1612968"/>
            <a:ext cx="396895" cy="203059"/>
          </a:xfrm>
          <a:prstGeom prst="rect">
            <a:avLst/>
          </a:prstGeom>
          <a:solidFill>
            <a:srgbClr val="F6E5D1"/>
          </a:solidFill>
          <a:ln>
            <a:solidFill>
              <a:srgbClr val="F6E5D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a-ET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xmlns="" id="{F72DACAF-789D-228F-61A6-D206024B7CBD}"/>
              </a:ext>
            </a:extLst>
          </p:cNvPr>
          <p:cNvSpPr/>
          <p:nvPr/>
        </p:nvSpPr>
        <p:spPr>
          <a:xfrm>
            <a:off x="1063016" y="1009650"/>
            <a:ext cx="1480159" cy="834953"/>
          </a:xfrm>
          <a:prstGeom prst="rect">
            <a:avLst/>
          </a:prstGeom>
          <a:solidFill>
            <a:srgbClr val="F6E5D1"/>
          </a:solidFill>
          <a:ln>
            <a:solidFill>
              <a:srgbClr val="F6E5D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a-ET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60239"/>
            <a:ext cx="716232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Этапы командной работы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122646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 Light" pitchFamily="34" charset="0"/>
                <a:ea typeface="Gelasio Light" pitchFamily="34" charset="-122"/>
                <a:cs typeface="Gelasio Light" pitchFamily="34" charset="-120"/>
              </a:rPr>
              <a:t>01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2477691"/>
            <a:ext cx="6407944" cy="30480"/>
          </a:xfrm>
          <a:prstGeom prst="rect">
            <a:avLst/>
          </a:prstGeom>
          <a:solidFill>
            <a:srgbClr val="D3C5B6"/>
          </a:solidFill>
          <a:ln/>
        </p:spPr>
      </p:sp>
      <p:sp>
        <p:nvSpPr>
          <p:cNvPr id="5" name="Text 3"/>
          <p:cNvSpPr/>
          <p:nvPr/>
        </p:nvSpPr>
        <p:spPr>
          <a:xfrm>
            <a:off x="793790" y="2651998"/>
            <a:ext cx="348912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Независимая разработка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3142417"/>
            <a:ext cx="6407944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Каждый самостоятельно разрабатывал консольный калькулятор с базовыми операциями и загружал в личный репозиторий на GitHub.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428548" y="2122646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 Light" pitchFamily="34" charset="0"/>
                <a:ea typeface="Gelasio Light" pitchFamily="34" charset="-122"/>
                <a:cs typeface="Gelasio Light" pitchFamily="34" charset="-120"/>
              </a:rPr>
              <a:t>02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7428548" y="2477691"/>
            <a:ext cx="6408063" cy="30480"/>
          </a:xfrm>
          <a:prstGeom prst="rect">
            <a:avLst/>
          </a:prstGeom>
          <a:solidFill>
            <a:srgbClr val="D3C5B6"/>
          </a:solidFill>
          <a:ln/>
        </p:spPr>
      </p:sp>
      <p:sp>
        <p:nvSpPr>
          <p:cNvPr id="9" name="Text 7"/>
          <p:cNvSpPr/>
          <p:nvPr/>
        </p:nvSpPr>
        <p:spPr>
          <a:xfrm>
            <a:off x="7428548" y="2651998"/>
            <a:ext cx="304049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Обмен и Code Review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428548" y="3142417"/>
            <a:ext cx="6408063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Форк и клонирование репозиториев коллег. Тщательный анализ кода на логические ошибки, уязвимости (деление на ноль), обработку ввода, качество.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93790" y="4627959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 Light" pitchFamily="34" charset="0"/>
                <a:ea typeface="Gelasio Light" pitchFamily="34" charset="-122"/>
                <a:cs typeface="Gelasio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93790" y="4983004"/>
            <a:ext cx="6407944" cy="30480"/>
          </a:xfrm>
          <a:prstGeom prst="rect">
            <a:avLst/>
          </a:prstGeom>
          <a:solidFill>
            <a:srgbClr val="D3C5B6"/>
          </a:solidFill>
          <a:ln/>
        </p:spPr>
      </p:sp>
      <p:sp>
        <p:nvSpPr>
          <p:cNvPr id="13" name="Text 11"/>
          <p:cNvSpPr/>
          <p:nvPr/>
        </p:nvSpPr>
        <p:spPr>
          <a:xfrm>
            <a:off x="793790" y="5157311"/>
            <a:ext cx="372546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Исправления и улучшения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93790" y="5647730"/>
            <a:ext cx="6407944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Рефакторинг: исправление ошибок (деление на ноль), повышение надежности (try-except), улучшение читаемости (переименование переменных, функции, комментарии).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428548" y="4627959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 Light" pitchFamily="34" charset="0"/>
                <a:ea typeface="Gelasio Light" pitchFamily="34" charset="-122"/>
                <a:cs typeface="Gelasio Light" pitchFamily="34" charset="-120"/>
              </a:rPr>
              <a:t>04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7428548" y="4983004"/>
            <a:ext cx="6408063" cy="30480"/>
          </a:xfrm>
          <a:prstGeom prst="rect">
            <a:avLst/>
          </a:prstGeom>
          <a:solidFill>
            <a:srgbClr val="D3C5B6"/>
          </a:solidFill>
          <a:ln/>
        </p:spPr>
      </p:sp>
      <p:sp>
        <p:nvSpPr>
          <p:cNvPr id="17" name="Text 15"/>
          <p:cNvSpPr/>
          <p:nvPr/>
        </p:nvSpPr>
        <p:spPr>
          <a:xfrm>
            <a:off x="7428548" y="5157311"/>
            <a:ext cx="397037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Интеграция и демонстрация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428548" y="5647730"/>
            <a:ext cx="6408063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Создание Pull Request с подробным описанием изменений. Обсуждение и слияние изменений в основной код.</a:t>
            </a:r>
            <a:endParaRPr lang="en-US" sz="1750" dirty="0"/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xmlns="" id="{544DFA7C-EA9E-660F-2059-B15D19FE79B3}"/>
              </a:ext>
            </a:extLst>
          </p:cNvPr>
          <p:cNvSpPr/>
          <p:nvPr/>
        </p:nvSpPr>
        <p:spPr>
          <a:xfrm>
            <a:off x="12519183" y="7327344"/>
            <a:ext cx="2095500" cy="862251"/>
          </a:xfrm>
          <a:prstGeom prst="rect">
            <a:avLst/>
          </a:prstGeom>
          <a:solidFill>
            <a:srgbClr val="F9F6F0"/>
          </a:solidFill>
          <a:ln>
            <a:solidFill>
              <a:srgbClr val="F9F6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a-ET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78349"/>
            <a:ext cx="1032771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Итоги и выводы командного проекта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240756"/>
            <a:ext cx="6407944" cy="1669852"/>
          </a:xfrm>
          <a:prstGeom prst="roundRect">
            <a:avLst>
              <a:gd name="adj" fmla="val 32601"/>
            </a:avLst>
          </a:prstGeom>
          <a:solidFill>
            <a:srgbClr val="EEE8DD"/>
          </a:solidFill>
          <a:ln/>
        </p:spPr>
      </p:sp>
      <p:sp>
        <p:nvSpPr>
          <p:cNvPr id="4" name="Text 2"/>
          <p:cNvSpPr/>
          <p:nvPr/>
        </p:nvSpPr>
        <p:spPr>
          <a:xfrm>
            <a:off x="1020604" y="246757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Навыки Git/GitHub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20604" y="2957989"/>
            <a:ext cx="59543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Полный цикл: commit, push, pull request, merge.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7428548" y="2240756"/>
            <a:ext cx="6408063" cy="1669852"/>
          </a:xfrm>
          <a:prstGeom prst="roundRect">
            <a:avLst>
              <a:gd name="adj" fmla="val 32601"/>
            </a:avLst>
          </a:prstGeom>
          <a:solidFill>
            <a:srgbClr val="EEE8DD"/>
          </a:solidFill>
          <a:ln/>
        </p:spPr>
      </p:sp>
      <p:sp>
        <p:nvSpPr>
          <p:cNvPr id="7" name="Text 5"/>
          <p:cNvSpPr/>
          <p:nvPr/>
        </p:nvSpPr>
        <p:spPr>
          <a:xfrm>
            <a:off x="7655362" y="2467570"/>
            <a:ext cx="315515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Практика Code Review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655362" y="2957989"/>
            <a:ext cx="59544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Умение критически оценивать чужой код, находить слабые места и предлагать улучшения.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793790" y="4137422"/>
            <a:ext cx="6407944" cy="2032754"/>
          </a:xfrm>
          <a:prstGeom prst="roundRect">
            <a:avLst>
              <a:gd name="adj" fmla="val 26781"/>
            </a:avLst>
          </a:prstGeom>
          <a:solidFill>
            <a:srgbClr val="EEE8DD"/>
          </a:solidFill>
          <a:ln/>
        </p:spPr>
      </p:sp>
      <p:sp>
        <p:nvSpPr>
          <p:cNvPr id="10" name="Text 8"/>
          <p:cNvSpPr/>
          <p:nvPr/>
        </p:nvSpPr>
        <p:spPr>
          <a:xfrm>
            <a:off x="1020604" y="436423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Качество кода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20604" y="4854654"/>
            <a:ext cx="59543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Понимание важности обработки ошибок, читаемости и структуры кода.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428548" y="4137422"/>
            <a:ext cx="6408063" cy="2032754"/>
          </a:xfrm>
          <a:prstGeom prst="roundRect">
            <a:avLst>
              <a:gd name="adj" fmla="val 26781"/>
            </a:avLst>
          </a:prstGeom>
          <a:solidFill>
            <a:srgbClr val="EEE8DD"/>
          </a:solidFill>
          <a:ln/>
        </p:spPr>
        <p:txBody>
          <a:bodyPr/>
          <a:lstStyle/>
          <a:p>
            <a:endParaRPr lang="aa-ET" dirty="0"/>
          </a:p>
        </p:txBody>
      </p:sp>
      <p:sp>
        <p:nvSpPr>
          <p:cNvPr id="13" name="Text 11"/>
          <p:cNvSpPr/>
          <p:nvPr/>
        </p:nvSpPr>
        <p:spPr>
          <a:xfrm>
            <a:off x="7655362" y="436423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Командная работа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655362" y="4854654"/>
            <a:ext cx="595443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Моделирование реального процесса разработки, где задачи распределяются, а код улучшается усилиями команды.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93790" y="6425327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Главное доказательство нашей работы — это история коммитов и веток на GitHub, наглядно демонстрирующая весь путь от первоначального кода до конечного, улучшенного результата.</a:t>
            </a:r>
            <a:endParaRPr lang="en-US" sz="1750" dirty="0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xmlns="" id="{49104946-1B05-9BAD-03C9-BA5499ACB2A6}"/>
              </a:ext>
            </a:extLst>
          </p:cNvPr>
          <p:cNvSpPr/>
          <p:nvPr/>
        </p:nvSpPr>
        <p:spPr>
          <a:xfrm>
            <a:off x="12519183" y="7327344"/>
            <a:ext cx="2095500" cy="862251"/>
          </a:xfrm>
          <a:prstGeom prst="rect">
            <a:avLst/>
          </a:prstGeom>
          <a:solidFill>
            <a:srgbClr val="F9F6F0"/>
          </a:solidFill>
          <a:ln>
            <a:solidFill>
              <a:srgbClr val="F9F6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a-ET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xmlns="" id="{49104946-1B05-9BAD-03C9-BA5499ACB2A6}"/>
              </a:ext>
            </a:extLst>
          </p:cNvPr>
          <p:cNvSpPr/>
          <p:nvPr/>
        </p:nvSpPr>
        <p:spPr>
          <a:xfrm>
            <a:off x="12519183" y="7327344"/>
            <a:ext cx="2095500" cy="862251"/>
          </a:xfrm>
          <a:prstGeom prst="rect">
            <a:avLst/>
          </a:prstGeom>
          <a:solidFill>
            <a:srgbClr val="F9F6F0"/>
          </a:solidFill>
          <a:ln>
            <a:solidFill>
              <a:srgbClr val="F9F6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a-ET"/>
          </a:p>
        </p:txBody>
      </p:sp>
      <p:pic>
        <p:nvPicPr>
          <p:cNvPr id="18" name="Рисунок 1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34" y="0"/>
            <a:ext cx="14616266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5513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795</Words>
  <Application>Microsoft Office PowerPoint</Application>
  <PresentationFormat>Произвольный</PresentationFormat>
  <Paragraphs>92</Paragraphs>
  <Slides>11</Slides>
  <Notes>11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7" baseType="lpstr">
      <vt:lpstr>Gelasio Light</vt:lpstr>
      <vt:lpstr>Gelasio Semi Bold</vt:lpstr>
      <vt:lpstr>Calibri</vt:lpstr>
      <vt:lpstr>Gelasio</vt:lpstr>
      <vt:lpstr>Arial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lastModifiedBy>ghwt40</cp:lastModifiedBy>
  <cp:revision>5</cp:revision>
  <dcterms:created xsi:type="dcterms:W3CDTF">2025-08-28T20:57:08Z</dcterms:created>
  <dcterms:modified xsi:type="dcterms:W3CDTF">2025-08-29T07:46:12Z</dcterms:modified>
</cp:coreProperties>
</file>